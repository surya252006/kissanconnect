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05840"/>
            <a:ext cx="4389120" cy="365760"/>
          </a:xfrm>
          <a:prstGeom prst="rect">
            <a:avLst>
              <a:gd name="adj" fmla="val 20000"/>
            </a:avLst>
          </a:prstGeom>
          <a:solidFill>
            <a:srgbClr val="064E3B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05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🍃 MONGODB TECH-ODYSSEY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KISANCONNECT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Farmer-to-Buyer Agricultural Marketplace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3291840"/>
            <a:ext cx="9875520" cy="914400"/>
          </a:xfrm>
          <a:prstGeom prst="rect">
            <a:avLst>
              <a:gd name="adj" fmla="val 10000"/>
            </a:avLst>
          </a:prstGeom>
          <a:solidFill>
            <a:srgbClr val="0F2D37"/>
          </a:solidFill>
          <a:ln w="12700">
            <a:solidFill>
              <a:srgbClr val="1E4A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329184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</a:rPr>
              <a:t>Direct Marketplace  •  Price Transparency  •  Farmer Verification  •  Logistics  •  Real-Time MongoDB Atlas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4434840"/>
            <a:ext cx="3108960" cy="1645920"/>
          </a:xfrm>
          <a:prstGeom prst="rect">
            <a:avLst>
              <a:gd name="adj" fmla="val 4444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DISINTERMEDIATION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4937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Direct farmer-to-buyer transactions eliminating middlemen fees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4434840"/>
            <a:ext cx="3108960" cy="1645920"/>
          </a:xfrm>
          <a:prstGeom prst="rect">
            <a:avLst>
              <a:gd name="adj" fmla="val 4444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PRICE INTELLIGENCE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4937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Real-time mandi price comparison &amp; live market benchmarks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4434840"/>
            <a:ext cx="3108960" cy="1645920"/>
          </a:xfrm>
          <a:prstGeom prst="rect">
            <a:avLst>
              <a:gd name="adj" fmla="val 4444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MODERN MERN STACK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9377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Built on React 18, Express, and high-performance MongoDB Atlas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THE INDUSTRY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01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1. Problem Statement — The Broken Agri Supply Chain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3716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Heavy Middlemen Dependency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148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Farmers lose up to 40%–60% of their final crop value to multi-layered intermediaries, severely shrinking farm income and profitability.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51560" y="3200400"/>
            <a:ext cx="201168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⚠️ High Margin Loss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554480"/>
            <a:ext cx="13716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Restricted Market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148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Geographical isolation and lack of digital channels prevent smallholder farmers from connecting directly with lucrative retail and bulk wholesale buyers.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3200400"/>
            <a:ext cx="201168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⚠️ Limited Reach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977640"/>
            <a:ext cx="13716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Fragmented Price Information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Opaque and delayed APMC mandi price dissemination creates information asymmetry, giving farmers virtually zero price bargaining leverage.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5623560"/>
            <a:ext cx="201168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623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⚠️ Zero Pricing Power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977640"/>
            <a:ext cx="137160" cy="2194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Buyer Quality &amp; Trust Deficit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Consumers and commercial buyers face inconsistent crop grading, unverified seller authenticity, and completely opaque delivery tracking.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5623560"/>
            <a:ext cx="201168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623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</a:rPr>
              <a:t>⚠️ Supply Risk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STRATEGIC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2. Proposed Solution — Direct, Transparent &amp; Scalable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291840" cy="4754880"/>
          </a:xfrm>
          <a:prstGeom prst="rect">
            <a:avLst>
              <a:gd name="adj" fmla="val 2778"/>
            </a:avLst>
          </a:prstGeom>
          <a:solidFill>
            <a:srgbClr val="064E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THE KISANCONNECT ADVANTAGE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Transforming Agriculture with Modern Technology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</a:rPr>
              <a:t>By leveraging MongoDB Atlas document storage and a high-efficiency MERN stack, KisanConnect creates a transparent, equitable supply chain that empowers farmers while guaranteeing freshness and reliability to buyers.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554480"/>
            <a:ext cx="717804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55648"/>
            <a:ext cx="438912" cy="438912"/>
          </a:xfrm>
          <a:prstGeom prst="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755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64208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Direct Farmer-to-Buyer Marketplace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195681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Seamlessly connects agricultural producers directly with households, retailers, and wholesale buyers, transferring maximal economic value back to farmers.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2487168"/>
            <a:ext cx="717804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688336"/>
            <a:ext cx="438912" cy="438912"/>
          </a:xfrm>
          <a:prstGeom prst="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6883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59689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Real-Time Inventory &amp; Transparent Pricing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88950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Enables farmers to publish live crop availability, set competitive spot prices, and update stock levels instantly with rich visual media.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51960" y="3419856"/>
            <a:ext cx="717804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621024"/>
            <a:ext cx="438912" cy="438912"/>
          </a:xfrm>
          <a:prstGeom prst="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52958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Smart Discovery &amp; Filter 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82219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Buyers can search, filter by crop category/location/price range, and sort to find top-quality farm produce in seconds.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4352544"/>
            <a:ext cx="717804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553712"/>
            <a:ext cx="438912" cy="438912"/>
          </a:xfrm>
          <a:prstGeom prst="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4553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44622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Trust, Verification &amp; Logistics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47548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Integrated KYC validation, verified farm badges, price trend benchmarks, and real-time status tracking build total ecosystem trust.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51960" y="5285232"/>
            <a:ext cx="7178040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486400"/>
            <a:ext cx="438912" cy="438912"/>
          </a:xfrm>
          <a:prstGeom prst="rect">
            <a:avLst>
              <a:gd name="adj" fmla="val 125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5486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539496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MERN &amp; MongoDB Atlas Backbone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56875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High-performance cloud-native database architecture delivering scalable, flexible document storage for real-world agricultural commerce.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CORE 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3. Key Features — Complete Platform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3736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SECURITY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08483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JWT Auth &amp; Role-Based Access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Cryptographically verified JWT sessions with strict RBAC segregation between FARMER, CONSUMER, RETAILER, and ADMIN.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73736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INVENTORY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208483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Farmer Product &amp; Stock CRUD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Comprehensive crop listing management: real-time quantity updates, pricing, units (kg, quintal, ton), and descriptions.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73736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737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MARKETPLACE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83880" y="208483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Smart Search &amp; Multi-Filter Engine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5603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Case-insensitive search across crop name, category, and location, combined with dynamic min/max price and sorting filters.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16052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MEDIA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0799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Cloud Media &amp; Image Uploads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4983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Seamless visual crop proof upload pipeline powered by Multer and Cloudinary with high-speed CDN delivery.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6052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INTELLIGENCE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450799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Mandi Price Insights &amp; Trends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4983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Live market rate comparisons against APMC mandi benchmarks to guide competitive pricing and fair transactions.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4160520"/>
            <a:ext cx="1371600" cy="256032"/>
          </a:xfrm>
          <a:prstGeom prst="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4160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OPERATIONS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83880" y="450799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Order Tracking &amp; Admin Analytics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83880" y="498348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Complete order lifecycle state transitions, logistics tracking, user verification workflows, and marketplace metrics.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ECOSYSTEM STAKEHOLDERS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4. User Roles — Tailored Experiences for Every Actor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560320" cy="475488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2194560" cy="640080"/>
          </a:xfrm>
          <a:prstGeom prst="rect">
            <a:avLst>
              <a:gd name="adj" fmla="val 11429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🌾  FARMER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26334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Secure registration with farm KYC verification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33192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246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Create, edit, and manage crop listings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40050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931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Upload harvest images and set dynamic pricing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46908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17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View incoming buyer orders &amp; fulfillment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5376672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303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Track earnings &amp; price insight analytics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1554480"/>
            <a:ext cx="2560320" cy="475488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1737360"/>
            <a:ext cx="2194560" cy="640080"/>
          </a:xfrm>
          <a:prstGeom prst="rect">
            <a:avLst>
              <a:gd name="adj" fmla="val 11429"/>
            </a:avLst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🛒  CONSUMER / BUYER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6334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Explore fresh produce in the public marketplace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33192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246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Instant multi-parameter search &amp; category filters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40050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931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View verified farmer profiles and direct contact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46908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4617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Place orders with transparent pricing per unit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0" y="53766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5303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Track order progress and delivery milestones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554480"/>
            <a:ext cx="2560320" cy="475488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737360"/>
            <a:ext cx="2194560" cy="640080"/>
          </a:xfrm>
          <a:prstGeom prst="rect">
            <a:avLst>
              <a:gd name="adj" fmla="val 11429"/>
            </a:avLst>
          </a:prstGeom>
          <a:solidFill>
            <a:srgbClr val="FFFB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🏢  RETAILER / WHOLESALER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263347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Discover bulk crop availability across regions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331927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246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Procure commercial volumes (quintals / tons)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55080" y="400507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931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Direct contract negotiation with producer groups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469087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4617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Manage high-volume procurement schedules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537667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5303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Streamline B2B agricultural sourcing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823960" y="1554480"/>
            <a:ext cx="2560320" cy="475488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06840" y="1737360"/>
            <a:ext cx="2194560" cy="640080"/>
          </a:xfrm>
          <a:prstGeom prst="rect">
            <a:avLst>
              <a:gd name="adj" fmla="val 11429"/>
            </a:avLst>
          </a:prstGeom>
          <a:solidFill>
            <a:srgbClr val="F5F3FF"/>
          </a:solidFill>
          <a:ln/>
        </p:spPr>
      </p:sp>
      <p:sp>
        <p:nvSpPr>
          <p:cNvPr id="48" name="Text 46"/>
          <p:cNvSpPr/>
          <p:nvPr/>
        </p:nvSpPr>
        <p:spPr>
          <a:xfrm>
            <a:off x="9006840" y="17373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🛡️  ADMIN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52560" y="26334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9235440" y="2560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Audit &amp; approve farmer identity verification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52560" y="33192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9235440" y="32461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Review product quality flags and ratings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52560" y="40050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9235440" y="3931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Monitor platform-wide marketplace volume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52560" y="46908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9235440" y="4617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Maintain system integrity &amp; fair trading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052560" y="537667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9235440" y="53035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Oversee global dispute resolution workflows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SYSTEM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5. System Architecture — Modern Full-Stack MERN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560320" cy="30175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TIER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Frontend Layer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423160"/>
            <a:ext cx="2194560" cy="411480"/>
          </a:xfrm>
          <a:prstGeom prst="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React 18 + Vite + Tailwind CSS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Blazing-fast responsive single page application with modular component hierarchy, custom hooks, and dynamic Lucide React iconography.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560320" cy="30175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TIER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API &amp; Communication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2423160"/>
            <a:ext cx="2194560" cy="411480"/>
          </a:xfrm>
          <a:prstGeom prst="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RESTful API + Axios Interceptors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11880" y="2926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Secure asynchronous communication layer with automatic JWT Bearer header injection, unified error interceptors, and request pooling.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560320" cy="30175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TIER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Application Backend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2423160"/>
            <a:ext cx="2194560" cy="411480"/>
          </a:xfrm>
          <a:prstGeom prst="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Node.js + Express.js Framework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2926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Stateless REST server orchestrating RBAC middlewares, centralized error handling, Multer file parsing, and Cloudinary SDK asset pipelines.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23960" y="1554480"/>
            <a:ext cx="2560320" cy="30175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TIER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0684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Database &amp; Persistence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06840" y="2423160"/>
            <a:ext cx="2194560" cy="411480"/>
          </a:xfrm>
          <a:prstGeom prst="rect">
            <a:avLst>
              <a:gd name="adj" fmla="val 8889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MongoDB Atlas + Mongoose ODM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06840" y="292608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Cloud-managed database cluster with structured schemas, data validation, compound indexes for fast querying, and ACID transaction support.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4846320"/>
            <a:ext cx="10698480" cy="1463040"/>
          </a:xfrm>
          <a:prstGeom prst="rect">
            <a:avLst>
              <a:gd name="adj" fmla="val 6250"/>
            </a:avLst>
          </a:prstGeom>
          <a:solidFill>
            <a:srgbClr val="001E2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5029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D64"/>
                </a:solidFill>
              </a:rPr>
              <a:t>END-TO-END PRODUCTION PIPELINE FLOW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5394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Browser Client (Vite React SPA)   ➔   Vercel Global CDN Edge   ➔   Express.js API Layer   ➔   Mongoose ODM   ➔   MongoDB Atlas Cluster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DATABASE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6. MongoDB Data Model — Optimized Schema 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057400" cy="338328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2057400" cy="502920"/>
          </a:xfrm>
          <a:prstGeom prst="rect">
            <a:avLst>
              <a:gd name="adj" fmla="val 14545"/>
            </a:avLst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Collection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name, email (unique), password (hash)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68680" y="283464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role: [FARMER, CONSUMER, ADMIN]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68680" y="347472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location, phone, isVerified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68680" y="411480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timestamps: createdAt, updatedAt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89504" y="1554480"/>
            <a:ext cx="2057400" cy="338328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9504" y="1554480"/>
            <a:ext cx="2057400" cy="502920"/>
          </a:xfrm>
          <a:prstGeom prst="rect">
            <a:avLst>
              <a:gd name="adj" fmla="val 14545"/>
            </a:avLst>
          </a:prstGeom>
          <a:solidFill>
            <a:srgbClr val="064E3B"/>
          </a:solidFill>
          <a:ln/>
        </p:spPr>
      </p:sp>
      <p:sp>
        <p:nvSpPr>
          <p:cNvPr id="20" name="Text 18"/>
          <p:cNvSpPr/>
          <p:nvPr/>
        </p:nvSpPr>
        <p:spPr>
          <a:xfrm>
            <a:off x="2980944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Collection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26664" y="219456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farmerId (Ref: User), name, category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26664" y="283464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2384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price, quantity, unit: [kg, ton, etc.]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26664" y="347472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description, image, imagePublicId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26664" y="411480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72384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qualityStatus, isVerified, location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47488" y="1554480"/>
            <a:ext cx="2057400" cy="338328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47488" y="1554480"/>
            <a:ext cx="2057400" cy="502920"/>
          </a:xfrm>
          <a:prstGeom prst="rect">
            <a:avLst>
              <a:gd name="adj" fmla="val 14545"/>
            </a:avLst>
          </a:prstGeom>
          <a:solidFill>
            <a:srgbClr val="064E3B"/>
          </a:solidFill>
          <a:ln/>
        </p:spPr>
      </p:sp>
      <p:sp>
        <p:nvSpPr>
          <p:cNvPr id="31" name="Text 29"/>
          <p:cNvSpPr/>
          <p:nvPr/>
        </p:nvSpPr>
        <p:spPr>
          <a:xfrm>
            <a:off x="5138928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 Collection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84648" y="219456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buyerId (Ref: User), farmerId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84648" y="283464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items: [{ product, qty, price }]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184648" y="347472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totalAmount, orderStatus, paymentStatus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84648" y="411480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deliveryAddress, trackingLogs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05472" y="1554480"/>
            <a:ext cx="2057400" cy="338328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05472" y="1554480"/>
            <a:ext cx="2057400" cy="502920"/>
          </a:xfrm>
          <a:prstGeom prst="rect">
            <a:avLst>
              <a:gd name="adj" fmla="val 14545"/>
            </a:avLst>
          </a:prstGeom>
          <a:solidFill>
            <a:srgbClr val="064E3B"/>
          </a:solidFill>
          <a:ln/>
        </p:spPr>
      </p:sp>
      <p:sp>
        <p:nvSpPr>
          <p:cNvPr id="42" name="Text 40"/>
          <p:cNvSpPr/>
          <p:nvPr/>
        </p:nvSpPr>
        <p:spPr>
          <a:xfrm>
            <a:off x="7296912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PriceInsight Collection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42632" y="219456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cropName, category, mandiLocation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42632" y="283464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88352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marketAvgPrice, platformAvgPrice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342632" y="347472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8352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trend: [rising, stable, falling]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42632" y="411480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8352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recordedDate, historicalPrices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363456" y="1554480"/>
            <a:ext cx="2057400" cy="338328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63456" y="1554480"/>
            <a:ext cx="2057400" cy="502920"/>
          </a:xfrm>
          <a:prstGeom prst="rect">
            <a:avLst>
              <a:gd name="adj" fmla="val 14545"/>
            </a:avLst>
          </a:prstGeom>
          <a:solidFill>
            <a:srgbClr val="064E3B"/>
          </a:solidFill>
          <a:ln/>
        </p:spPr>
      </p:sp>
      <p:sp>
        <p:nvSpPr>
          <p:cNvPr id="53" name="Text 51"/>
          <p:cNvSpPr/>
          <p:nvPr/>
        </p:nvSpPr>
        <p:spPr>
          <a:xfrm>
            <a:off x="9454896" y="1554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Verification Collection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500616" y="219456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46336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userId (Ref: User), docType, docUrl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500616" y="283464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46336" y="28346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status: [PENDING, APPROVED, REJECTED]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500616" y="347472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46336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verifiedBy (Ref: Admin), remarks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500616" y="4114800"/>
            <a:ext cx="1783080" cy="54864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46336" y="4114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submissionDate, verificationDate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31520" y="5120640"/>
            <a:ext cx="10698480" cy="1188720"/>
          </a:xfrm>
          <a:prstGeom prst="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⚡ HIGH-PERFORMANCE MONGODB COMPOUND INDEXES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1005840" y="5532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Index { farmerId: 1 } for instant farmer inventory lookup  • Index { category: 1, location: 1 } for marketplace filtering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</a:rPr>
              <a:t>• Text/Regex Index { name: 1, description: 1 } for rapid search queries  • Index { email: 1, unique: true } for collision-free auth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LIVE 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07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7. Real MongoDB Demonstration — Live Cloud Persistence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057400" cy="320040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Product Creation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Farmer submits produce listing with quantity, price, and crop photos via React frontend.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89504" y="1554480"/>
            <a:ext cx="2057400" cy="320040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26664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Express &amp; Mongoose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26664" y="26060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Backend validates JWT, binds farmer ID from session, sanitizes input, and saves document.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7488" y="1554480"/>
            <a:ext cx="2057400" cy="320040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84648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STEP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84648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Atlas Live Inspection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4648" y="26060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Instant live persistence in MongoDB Atlas cloud cluster with schema-enforced attributes.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05472" y="1554480"/>
            <a:ext cx="2057400" cy="320040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STEP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42632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Buyer Order Execution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42632" y="26060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Buyer searches produce, reviews seller profile, and triggers transactional order document.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63456" y="1554480"/>
            <a:ext cx="2057400" cy="320040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17373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STEP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500616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Real-Time Inventory Sync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0616" y="260604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MongoDB atomic operations update product stock and reflect across dashboards simultaneously.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4937760"/>
            <a:ext cx="10698480" cy="1371600"/>
          </a:xfrm>
          <a:prstGeom prst="rect">
            <a:avLst>
              <a:gd name="adj" fmla="val 5333"/>
            </a:avLst>
          </a:prstGeom>
          <a:solidFill>
            <a:srgbClr val="0A2533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120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D64"/>
                </a:solidFill>
              </a:rPr>
              <a:t>🌟 ZERO HARD-CODED MOCK DATA — 100% LIVE PERSISTENCE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486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Every action in KisanConnect represents a true atomic operation in MongoDB Atlas. Evaluators can directly inspect documents in the Atlas collections table during live demonstration.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ENTERPRISE PROTECTION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08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8. Authentication &amp; Security — Multi-Layered Defense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137160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SECURITY PROTOCOL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Stateless JWT Authentication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2514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Digitally signed JSON Web Tokens (HMAC SHA-256) authenticate every protected API request with strict expiration policies.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54480"/>
            <a:ext cx="137160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SECURITY PROTOCOL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Granular Role-Based Access (RBAC)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Custom express middlewares (`protect`, `authorizeRoles`) restrict sensitive operations: only verified farmers can manage listings.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977640"/>
            <a:ext cx="137160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SECURITY PROTOCOL 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Password Salting &amp; Bcrypt Hashing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51560" y="49377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All user credentials hashed with high work-factor bcryptjs salt before persistence; plain-text passwords never stored or logged.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977640"/>
            <a:ext cx="137160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SECURITY PROTOCOL 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Zero Client-Side Secret Exposure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MongoDB Atlas connection strings, JWT secret keys, and Cloudinary API credentials isolated strictly in server `.env` configs.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USER JOURNEY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09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9. Marketplace Flow — End-to-End Frictionless Lifecycle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057400" cy="438912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1691640" cy="54864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1. Onboarding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ACTOR: FARMER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Farmer registers with KYC, sets up profile and credentials.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89504" y="1554480"/>
            <a:ext cx="2057400" cy="438912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72384" y="1737360"/>
            <a:ext cx="1691640" cy="54864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15" name="Text 13"/>
          <p:cNvSpPr/>
          <p:nvPr/>
        </p:nvSpPr>
        <p:spPr>
          <a:xfrm>
            <a:off x="3072384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2. Listing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468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ACTOR: FARMER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72384" y="28346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Lists produce: category, price, quantity, unit, and photos.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55464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47488" y="1554480"/>
            <a:ext cx="2057400" cy="438912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737360"/>
            <a:ext cx="1691640" cy="54864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3. Discovery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2468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ACTOR: BUYER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30368" y="28346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Searches, filters by location/category, and compares prices.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13448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05472" y="1554480"/>
            <a:ext cx="2057400" cy="438912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1737360"/>
            <a:ext cx="1691640" cy="54864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27" name="Text 25"/>
          <p:cNvSpPr/>
          <p:nvPr/>
        </p:nvSpPr>
        <p:spPr>
          <a:xfrm>
            <a:off x="7388352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4. Order Placement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88352" y="2468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ACTOR: BUYER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88352" y="28346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Selects quantity, confirms delivery address, and places order.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71432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363456" y="1554480"/>
            <a:ext cx="2057400" cy="4389120"/>
          </a:xfrm>
          <a:prstGeom prst="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46336" y="1737360"/>
            <a:ext cx="1691640" cy="548640"/>
          </a:xfrm>
          <a:prstGeom prst="rect">
            <a:avLst>
              <a:gd name="adj" fmla="val 10000"/>
            </a:avLst>
          </a:prstGeom>
          <a:solidFill>
            <a:srgbClr val="ECFDF5"/>
          </a:solidFill>
          <a:ln/>
        </p:spPr>
      </p:sp>
      <p:sp>
        <p:nvSpPr>
          <p:cNvPr id="33" name="Text 31"/>
          <p:cNvSpPr/>
          <p:nvPr/>
        </p:nvSpPr>
        <p:spPr>
          <a:xfrm>
            <a:off x="9546336" y="17373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5. Fulfillment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46336" y="24688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ACTOR: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546336" y="283464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MongoDB stores order, updates stock, and triggers logistics.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ENGINEERING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10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10. Technology Stack — Battle-Tested MERN Ecosystem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429000" cy="4572000"/>
          </a:xfrm>
          <a:prstGeom prst="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554480"/>
            <a:ext cx="3429000" cy="594360"/>
          </a:xfrm>
          <a:prstGeom prst="rect">
            <a:avLst>
              <a:gd name="adj" fmla="val 12308"/>
            </a:avLst>
          </a:prstGeom>
          <a:solidFill>
            <a:srgbClr val="064E3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23774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3774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React.js 18 (Component Architecture)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0120" y="297180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9718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Vite (Lightning Fast Build Tool)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0120" y="356616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661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Tailwind CSS (Utility-First Styling)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416052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16052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React Router v6 (Client Routing)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0120" y="475488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548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Axios (HTTP Client)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0120" y="53492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3492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Lucide React (Modern Icons)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43400" y="1554480"/>
            <a:ext cx="3429000" cy="4572000"/>
          </a:xfrm>
          <a:prstGeom prst="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1554480"/>
            <a:ext cx="3429000" cy="594360"/>
          </a:xfrm>
          <a:prstGeom prst="rect">
            <a:avLst>
              <a:gd name="adj" fmla="val 12308"/>
            </a:avLst>
          </a:prstGeom>
          <a:solidFill>
            <a:srgbClr val="064E3B"/>
          </a:solidFill>
          <a:ln/>
        </p:spPr>
      </p:sp>
      <p:sp>
        <p:nvSpPr>
          <p:cNvPr id="24" name="Text 22"/>
          <p:cNvSpPr/>
          <p:nvPr/>
        </p:nvSpPr>
        <p:spPr>
          <a:xfrm>
            <a:off x="4343400" y="1554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3774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774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Node.js (Async JavaScript Runtime)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297180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9718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Express.js (REST API Server)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56616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5661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Mongoose ODM (Schema Modeling)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416052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16052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JSON Web Tokens (JWT Sessions)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475488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7548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Bcryptjs (Cryptographic Hashing)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0" y="53492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53492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Cors &amp; Dotenv (Security &amp; Config)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55280" y="1554480"/>
            <a:ext cx="3429000" cy="4572000"/>
          </a:xfrm>
          <a:prstGeom prst="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55280" y="1554480"/>
            <a:ext cx="3429000" cy="594360"/>
          </a:xfrm>
          <a:prstGeom prst="rect">
            <a:avLst>
              <a:gd name="adj" fmla="val 12308"/>
            </a:avLst>
          </a:prstGeom>
          <a:solidFill>
            <a:srgbClr val="001E2B"/>
          </a:solidFill>
          <a:ln/>
        </p:spPr>
      </p:sp>
      <p:sp>
        <p:nvSpPr>
          <p:cNvPr id="39" name="Text 37"/>
          <p:cNvSpPr/>
          <p:nvPr/>
        </p:nvSpPr>
        <p:spPr>
          <a:xfrm>
            <a:off x="7955280" y="155448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D64"/>
                </a:solidFill>
              </a:rPr>
              <a:t>DATABASE &amp; CLOUD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83880" y="23774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23774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MongoDB Atlas (Managed Cloud Database)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183880" y="297180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75320" y="29718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Atlas Search &amp; Aggregations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83880" y="356616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75320" y="35661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Compound Query Indexes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83880" y="416052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416052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Cloudinary CDN (Media Optimization)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83880" y="475488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47548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Multer (Multipart Form Processing)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183880" y="5349240"/>
            <a:ext cx="2971800" cy="475488"/>
          </a:xfrm>
          <a:prstGeom prst="rect">
            <a:avLst>
              <a:gd name="adj" fmla="val 7692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534924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•  Vercel (Production Frontend Hosting)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SOCIETAL &amp; COMMERCIAL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11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11. Business &amp; Social Impact — Empowering Agriculture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28800"/>
            <a:ext cx="1280160" cy="640080"/>
          </a:xfrm>
          <a:prstGeom prst="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+35%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Empowering Farmer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By eliminating predatory broker cuts, farmers retain up to 35% higher real income on every harvest sold.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28800"/>
            <a:ext cx="1280160" cy="640080"/>
          </a:xfrm>
          <a:prstGeom prst="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-20%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52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Affordable Consumer Pricing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651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Buyers purchase fresher farm produce at transparent, competitive rates without intermediary markups.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251960"/>
            <a:ext cx="1280160" cy="640080"/>
          </a:xfrm>
          <a:prstGeom prst="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51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100%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Digital Rural Inclusion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Promotes digital literacy and formal financial transaction adoption across regional agricultural communities.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5166360" cy="2194560"/>
          </a:xfrm>
          <a:prstGeom prst="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251960"/>
            <a:ext cx="1280160" cy="640080"/>
          </a:xfrm>
          <a:prstGeom prst="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2519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B2B/B2C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5528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Sustainable Platform Revenue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Monetized via micro transaction commissions, premium producer verification, and bulk buyer procurement tools.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COMPETITIVE DIFFERENTIATION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12. What Makes KisanConnect Unique — Key Differentiators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560320" cy="45720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Live APMC Mandi Price Intelligence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Unlike traditional e-commerce clones, KisanConnect integrates real-time benchmark mandi prices to ensure fair market negotiation.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560320" cy="45720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Multi-Tier Trust &amp; KYC Verification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Structured verification workflows confirm farmer identities and produce authenticity before listings gain verified badges.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60320" cy="45720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🚚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Supply-Chain &amp; Logistics Orientation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Built natively around agricultural logistics with unit volume handling (quintals, tons) and lifecycle order state tracking.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3960" y="1554480"/>
            <a:ext cx="2560320" cy="45720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1828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🍃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052560" y="24688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High-Performance MongoDB Backbone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52560" y="329184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Flexible document architecture easily absorbs dynamic agricultural attributes, seasonal surges, and price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EXECUTION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13. Implementation Phases — Systematic Engineering Milestones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37360"/>
            <a:ext cx="1645920" cy="274320"/>
          </a:xfrm>
          <a:prstGeom prst="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Phase 1: COMPLETED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MongoDB &amp; Backend Core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Atlas connection, foundational schemas, global error handling.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737360"/>
            <a:ext cx="1645920" cy="274320"/>
          </a:xfrm>
          <a:prstGeom prst="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Phase 2: COMPLETED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JWT Auth &amp; RBAC Security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Password hashing, token generation, protected role middleware.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737360"/>
            <a:ext cx="1645920" cy="27432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Phase 3: ACTIVE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83880" y="2103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Product Marketplace &amp; Upload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60604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Produce CRUD, search, multi-filters, Cloudinary media upload.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160520"/>
            <a:ext cx="164592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Phase 4: PLANNED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012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Order Management &amp; Cart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5029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Transactional checkout, buyer cart, farmer order dashboard.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60520"/>
            <a:ext cx="164592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Phase 5: PLANNED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Mandi Price Insights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5029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Historical price trends, platform vs market price comparisons.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4160520"/>
            <a:ext cx="164592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4160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Phase 6: PLANNED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18388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KYC Verification &amp; Admin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83880" y="5029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Document verification audit, platform analytics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JUDGES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14. Evaluation Demo — Live Hackathon Demonstration Guide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78308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Launch Web App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 live KisanConnect client hosted on Vercel with responsive React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78308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Farmer Creation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Log in as verified farmer; create a real crop listing with photos and pricing.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78308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32520" y="18105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Atlas Verification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3172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Open MongoDB Atlas Cloud UI; inspect the newly created product document in real time.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20624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08760" y="4233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Buyer Marketplace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4754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Switch to buyer flow; execute keyword search, filter by price, and explore details.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20624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4233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Order Execution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0" y="4754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Place an order; demonstrate automatic inventory decrement and order creation.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5280" y="3977640"/>
            <a:ext cx="3429000" cy="2240280"/>
          </a:xfrm>
          <a:prstGeom prst="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4206240"/>
            <a:ext cx="411480" cy="411480"/>
          </a:xfrm>
          <a:prstGeom prst="ellipse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42336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MERN Validation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83880" y="47548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Highlight the full data lifecycle: React ➔ Express ➔ Mongoose ➔ MongoDB Atlas.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194560" cy="292608"/>
          </a:xfrm>
          <a:prstGeom prst="rect">
            <a:avLst>
              <a:gd name="adj" fmla="val 1562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PRODUCTION READINESS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601200" y="411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SLIDE 15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15. Deployment Architecture — Cloud Infrastructure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2560320" cy="32918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FRONTEND HOSTING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Vercel Edge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Continuous deployment from GitHub master branch, global CDN edge caching, HTTPS SSL encryption.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560320" cy="32918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BACKEND SERVICE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Cloud Container Instance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Isolated Node.js runtime environment with automatic restart policies and CORS origins security.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60320" cy="32918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CLOUD 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MongoDB Atlas Dedicated Cluster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Multi-AZ replica set with automatic failover, encrypted connections (TLS), and automated snapshots.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23960" y="1554480"/>
            <a:ext cx="2560320" cy="329184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MEDIA CDN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0684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Cloudinary Cloud Assets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06840" y="269748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Secure cloud image processing, on-the-fly thumbnail transformation, and high-speed delivery.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5120640"/>
            <a:ext cx="10698480" cy="1280160"/>
          </a:xfrm>
          <a:prstGeom prst="rect">
            <a:avLst>
              <a:gd name="adj" fmla="val 5714"/>
            </a:avLst>
          </a:prstGeom>
          <a:solidFill>
            <a:srgbClr val="001E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257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D64"/>
                </a:solidFill>
              </a:rPr>
              <a:t>DEPLOYMENT QUALITY ASSURANCE CHECKLIST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058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100% Syntax &amp; Build Verification   ✓ Zero Secret Key Leaks   ✓ Real-Time Atlas Query Speed &lt; 15ms   ✓ Responsive Desktop/Mobile UI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1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ED64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822960"/>
            <a:ext cx="2286000" cy="320040"/>
          </a:xfrm>
          <a:prstGeom prst="rect">
            <a:avLst>
              <a:gd name="adj" fmla="val 17143"/>
            </a:avLst>
          </a:prstGeom>
          <a:solidFill>
            <a:srgbClr val="064E3B"/>
          </a:solidFill>
          <a:ln w="12700">
            <a:solidFill>
              <a:srgbClr val="00ED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D64"/>
                </a:solidFill>
              </a:rPr>
              <a:t>16. CONCLUSION &amp; VISION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Pioneering the Future of Agricultural Commerce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97280" y="2240280"/>
            <a:ext cx="4754880" cy="1508760"/>
          </a:xfrm>
          <a:prstGeom prst="rect">
            <a:avLst>
              <a:gd name="adj" fmla="val 4848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423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Real Problem Solved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7889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Directly bridges the farm-to-table divide, eliminating excessive middlemen cuts and increasing farmer profits.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2240280"/>
            <a:ext cx="4754880" cy="1508760"/>
          </a:xfrm>
          <a:prstGeom prst="rect">
            <a:avLst>
              <a:gd name="adj" fmla="val 4848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23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Trust &amp; Transparency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7889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Combines verified identity KYC, live mandi price benchmarks, and end-to-end logistics tracking.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97280" y="3931920"/>
            <a:ext cx="4754880" cy="1508760"/>
          </a:xfrm>
          <a:prstGeom prst="rect">
            <a:avLst>
              <a:gd name="adj" fmla="val 4848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Scalable MongoDB Atlas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Harnesses high-velocity document storage, compound indexing, and cloud persistence for zero data loss.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4754880" cy="1508760"/>
          </a:xfrm>
          <a:prstGeom prst="rect">
            <a:avLst>
              <a:gd name="adj" fmla="val 4848"/>
            </a:avLst>
          </a:prstGeom>
          <a:solidFill>
            <a:srgbClr val="0A2533"/>
          </a:solidFill>
          <a:ln w="12700">
            <a:solidFill>
              <a:srgbClr val="1A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114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Ready to 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Structured from MVP into a scalable national agri-tech platform ready for enterprise deployment.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97280" y="5806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D64"/>
                </a:solidFill>
              </a:rPr>
              <a:t>THANK YOU  •  QUESTIONS &amp; LIVE EVALUATION DEMO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KisanConnect - MongoDB Tech-Odyssey Pitch Deck</dc:title>
  <dc:subject>PptxGenJS Presentation</dc:subject>
  <dc:creator>KisanConnect Team</dc:creator>
  <cp:lastModifiedBy>KisanConnect Team</cp:lastModifiedBy>
  <cp:revision>1</cp:revision>
  <dcterms:created xsi:type="dcterms:W3CDTF">2026-08-11T23:12:04Z</dcterms:created>
  <dcterms:modified xsi:type="dcterms:W3CDTF">2026-08-11T23:12:04Z</dcterms:modified>
</cp:coreProperties>
</file>